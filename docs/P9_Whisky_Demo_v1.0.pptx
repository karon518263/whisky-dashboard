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8" r:id="rId3"/>
    <p:sldId id="262" r:id="rId4"/>
    <p:sldId id="263" r:id="rId5"/>
    <p:sldId id="261" r:id="rId6"/>
    <p:sldId id="265" r:id="rId7"/>
    <p:sldId id="259" r:id="rId8"/>
    <p:sldId id="267" r:id="rId9"/>
    <p:sldId id="268" r:id="rId10"/>
    <p:sldId id="269" r:id="rId11"/>
    <p:sldId id="270" r:id="rId12"/>
    <p:sldId id="271" r:id="rId13"/>
    <p:sldId id="264" r:id="rId14"/>
    <p:sldId id="260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91E"/>
    <a:srgbClr val="F5F5F5"/>
    <a:srgbClr val="FF8C00"/>
    <a:srgbClr val="0E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5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5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2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6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2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7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2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3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6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9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8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8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3F6A719-82F4-A479-B06A-0227EA08DD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B50D975-204A-1BF6-2112-9D49CEA16A60}"/>
              </a:ext>
            </a:extLst>
          </p:cNvPr>
          <p:cNvSpPr/>
          <p:nvPr/>
        </p:nvSpPr>
        <p:spPr>
          <a:xfrm>
            <a:off x="-110836" y="-2"/>
            <a:ext cx="12302836" cy="6858002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DA527A4-3C03-FAD4-C251-FF6DFB9BB2A9}"/>
              </a:ext>
            </a:extLst>
          </p:cNvPr>
          <p:cNvSpPr txBox="1"/>
          <p:nvPr/>
        </p:nvSpPr>
        <p:spPr>
          <a:xfrm>
            <a:off x="1683326" y="2859582"/>
            <a:ext cx="89361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5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P9 </a:t>
            </a:r>
            <a:r>
              <a:rPr lang="zh-TW" altLang="en-US" sz="5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威士忌二級市場觀測系統</a:t>
            </a:r>
            <a:endParaRPr lang="en-US" altLang="zh-TW" sz="5400" b="1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algn="ctr"/>
            <a:r>
              <a:rPr lang="zh-TW" altLang="en-US" sz="32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從混亂數據到精準行情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846B747-9B7A-C7F2-634A-C7EB7C74D9D9}"/>
              </a:ext>
            </a:extLst>
          </p:cNvPr>
          <p:cNvSpPr txBox="1"/>
          <p:nvPr/>
        </p:nvSpPr>
        <p:spPr>
          <a:xfrm>
            <a:off x="10123055" y="6169891"/>
            <a:ext cx="19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張凱傑</a:t>
            </a:r>
            <a:r>
              <a:rPr lang="en-US" altLang="zh-TW" dirty="0"/>
              <a:t>2026.03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5830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958F3-A47C-8D61-8AD9-1780A69F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58584FA-8A01-9BFB-4034-9552BAF22B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7404ADF-4FE4-40BE-7836-03CE536E029C}"/>
              </a:ext>
            </a:extLst>
          </p:cNvPr>
          <p:cNvSpPr/>
          <p:nvPr/>
        </p:nvSpPr>
        <p:spPr>
          <a:xfrm>
            <a:off x="0" y="0"/>
            <a:ext cx="12302836" cy="6858002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2ED301E-CB31-2F3E-4B78-62EDB052B3AA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「你知道麥卡倫 </a:t>
            </a:r>
            <a:r>
              <a:rPr lang="en-US" altLang="zh-TW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 </a:t>
            </a:r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年，市場行情多少嗎？」</a:t>
            </a:r>
          </a:p>
        </p:txBody>
      </p:sp>
      <p:sp>
        <p:nvSpPr>
          <p:cNvPr id="3" name="AutoShape 2" descr="相片">
            <a:extLst>
              <a:ext uri="{FF2B5EF4-FFF2-40B4-BE49-F238E27FC236}">
                <a16:creationId xmlns:a16="http://schemas.microsoft.com/office/drawing/2014/main" id="{DE661782-ED8D-8962-03A7-50B2F3B360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26B50CA-BDC0-E4EF-92C6-0CE3030D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3" t="47144" r="11682" b="5785"/>
          <a:stretch>
            <a:fillRect/>
          </a:stretch>
        </p:blipFill>
        <p:spPr>
          <a:xfrm>
            <a:off x="1587282" y="2448137"/>
            <a:ext cx="3640499" cy="3371272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AE488C1F-FF84-748E-22D4-E987F28782E2}"/>
              </a:ext>
            </a:extLst>
          </p:cNvPr>
          <p:cNvSpPr txBox="1"/>
          <p:nvPr/>
        </p:nvSpPr>
        <p:spPr>
          <a:xfrm>
            <a:off x="6502400" y="2586182"/>
            <a:ext cx="4257964" cy="309518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A70BBB6-F9A4-5FCC-3669-41D8CF934B7E}"/>
              </a:ext>
            </a:extLst>
          </p:cNvPr>
          <p:cNvSpPr txBox="1"/>
          <p:nvPr/>
        </p:nvSpPr>
        <p:spPr>
          <a:xfrm>
            <a:off x="6151418" y="3038155"/>
            <a:ext cx="5528901" cy="1420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資訊破碎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價格散落於數千篇討論貼文中。</a:t>
            </a:r>
            <a:endParaRPr lang="en-US" altLang="zh-TW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成本極高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手動搜尋與比對耗時，容易錯失交易機會。</a:t>
            </a:r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缺乏指標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買賣雙方皆無法掌握即時的市場公定價。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9EF9A0-9C21-3759-7EDD-602B1679AF2C}"/>
              </a:ext>
            </a:extLst>
          </p:cNvPr>
          <p:cNvSpPr/>
          <p:nvPr/>
        </p:nvSpPr>
        <p:spPr>
          <a:xfrm>
            <a:off x="1403927" y="2309091"/>
            <a:ext cx="4160982" cy="372225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82E207E7-5D1C-A8BB-0308-E6ED02FDD752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5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6CA37-7256-8EDD-B5AA-411A64AC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1524EE5-BA38-798F-EB6E-F79B32EF85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A622A8C-6D79-E517-BE1D-6E0A4181E8DC}"/>
              </a:ext>
            </a:extLst>
          </p:cNvPr>
          <p:cNvSpPr/>
          <p:nvPr/>
        </p:nvSpPr>
        <p:spPr>
          <a:xfrm>
            <a:off x="-2" y="-2"/>
            <a:ext cx="12302836" cy="6858002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A8A0891-B434-5F18-B852-8D38F7C918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全自動化數據管線</a:t>
            </a: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585E48CD-8C05-EA3F-4562-C37AD7E0558A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15FD24F7-30CC-A692-540A-6F76592A769A}"/>
              </a:ext>
            </a:extLst>
          </p:cNvPr>
          <p:cNvSpPr/>
          <p:nvPr/>
        </p:nvSpPr>
        <p:spPr>
          <a:xfrm>
            <a:off x="499089" y="2565693"/>
            <a:ext cx="2396502" cy="2941774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82550">
            <a:solidFill>
              <a:srgbClr val="D269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：自動獲取</a:t>
            </a:r>
            <a:endParaRPr lang="en-US" altLang="zh-TW" b="1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(Requests + BS4) </a:t>
            </a:r>
          </a:p>
          <a:p>
            <a:pPr algn="ctr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➔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每日定時抓取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P9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論壇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95E76694-AC69-516C-7C62-074CF872FEA6}"/>
              </a:ext>
            </a:extLst>
          </p:cNvPr>
          <p:cNvSpPr/>
          <p:nvPr/>
        </p:nvSpPr>
        <p:spPr>
          <a:xfrm>
            <a:off x="9157680" y="2548089"/>
            <a:ext cx="2396502" cy="2941774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82550">
            <a:solidFill>
              <a:srgbClr val="D269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：互動展示</a:t>
            </a:r>
            <a:endParaRPr lang="en-US" altLang="zh-TW" b="1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Streamlit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</a:p>
          <a:p>
            <a:pPr algn="ctr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➔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視覺化動態儀表板與進階搜尋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90FA18B-BD79-AAA1-78E7-20DD78388F7E}"/>
              </a:ext>
            </a:extLst>
          </p:cNvPr>
          <p:cNvSpPr/>
          <p:nvPr/>
        </p:nvSpPr>
        <p:spPr>
          <a:xfrm>
            <a:off x="6271483" y="2529037"/>
            <a:ext cx="2396502" cy="2941774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82550">
            <a:solidFill>
              <a:srgbClr val="D269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：關聯儲存</a:t>
            </a:r>
            <a:endParaRPr lang="en-US" altLang="zh-TW" b="1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(SQLite) </a:t>
            </a:r>
          </a:p>
          <a:p>
            <a:pPr algn="ctr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➔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結構化儲存，具備防重複機制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5BF67C7-157C-E334-6540-696B19E7EB29}"/>
              </a:ext>
            </a:extLst>
          </p:cNvPr>
          <p:cNvSpPr/>
          <p:nvPr/>
        </p:nvSpPr>
        <p:spPr>
          <a:xfrm>
            <a:off x="3385286" y="2529037"/>
            <a:ext cx="2396502" cy="2941774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82550">
            <a:solidFill>
              <a:srgbClr val="D269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：資料清洗</a:t>
            </a:r>
            <a:endParaRPr lang="en-US" altLang="zh-TW" b="1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(Pandas + Regex) </a:t>
            </a:r>
          </a:p>
          <a:p>
            <a:pPr algn="ctr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➔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萃取品牌、年份、價格與特徵</a:t>
            </a:r>
          </a:p>
        </p:txBody>
      </p:sp>
    </p:spTree>
    <p:extLst>
      <p:ext uri="{BB962C8B-B14F-4D97-AF65-F5344CB8AC3E}">
        <p14:creationId xmlns:p14="http://schemas.microsoft.com/office/powerpoint/2010/main" val="262701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886FA-CA32-D2BE-F709-BAB55B74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9BB3A0B-ED13-0818-8709-212F7A2F1B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5B909AD-BF61-E03B-0FFC-5309E066F1A9}"/>
              </a:ext>
            </a:extLst>
          </p:cNvPr>
          <p:cNvSpPr/>
          <p:nvPr/>
        </p:nvSpPr>
        <p:spPr>
          <a:xfrm>
            <a:off x="-110836" y="-2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3E45E88-CDEF-030C-E991-8E8C7764732C}"/>
              </a:ext>
            </a:extLst>
          </p:cNvPr>
          <p:cNvSpPr txBox="1"/>
          <p:nvPr/>
        </p:nvSpPr>
        <p:spPr>
          <a:xfrm>
            <a:off x="2826326" y="2004291"/>
            <a:ext cx="691803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u"/>
            </a:pPr>
            <a:r>
              <a:rPr lang="zh-TW" altLang="en-US" sz="40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資料庫每日更新</a:t>
            </a:r>
            <a:endParaRPr lang="en-US" altLang="zh-TW" sz="4000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TW" altLang="en-US" sz="40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累計</a:t>
            </a:r>
            <a:r>
              <a:rPr lang="en-US" altLang="zh-TW" sz="4400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557+</a:t>
            </a:r>
            <a:r>
              <a:rPr lang="en-US" altLang="zh-TW" sz="40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40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筆報價</a:t>
            </a:r>
            <a:endParaRPr lang="en-US" altLang="zh-TW" sz="4000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TW" altLang="en-US" sz="40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累計</a:t>
            </a:r>
            <a:r>
              <a:rPr lang="en-US" altLang="zh-TW" sz="4400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87</a:t>
            </a:r>
            <a:r>
              <a:rPr lang="en-US" altLang="zh-TW" sz="40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40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個品牌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847585-CEFB-DCC1-1C17-F1EBF00200AD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品酒網二級市場資料庫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AD3D2E8-363B-E99A-7FDF-45F315D247CA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05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2B5CF-4489-A161-09F0-77AAD763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1068DC1-7B4A-DA7A-50D1-7DBDC7CF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54252B9-9BF1-05A4-E86C-7BCE35167F47}"/>
              </a:ext>
            </a:extLst>
          </p:cNvPr>
          <p:cNvSpPr/>
          <p:nvPr/>
        </p:nvSpPr>
        <p:spPr>
          <a:xfrm>
            <a:off x="-110836" y="-2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02CB4DD-6DE1-DB94-BF78-55E8DE099CBB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麥卡倫</a:t>
            </a:r>
            <a:r>
              <a:rPr lang="en-US" altLang="zh-TW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年：</a:t>
            </a:r>
            <a:r>
              <a:rPr lang="en-US" altLang="zh-TW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個月價格趨勢一目瞭然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B1DDB822-CA54-0D04-4339-CA3ECEA8D855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24C73D25-E784-7155-EDC8-C7CC0DFAF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74" y="2547221"/>
            <a:ext cx="8391238" cy="399927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B7D30E0-454A-62B1-2734-A62E8391DDE8}"/>
              </a:ext>
            </a:extLst>
          </p:cNvPr>
          <p:cNvSpPr txBox="1"/>
          <p:nvPr/>
        </p:nvSpPr>
        <p:spPr>
          <a:xfrm>
            <a:off x="1842987" y="1878142"/>
            <a:ext cx="8201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破除報價迷霧，掌握平均成交價格區間</a:t>
            </a:r>
          </a:p>
        </p:txBody>
      </p:sp>
    </p:spTree>
    <p:extLst>
      <p:ext uri="{BB962C8B-B14F-4D97-AF65-F5344CB8AC3E}">
        <p14:creationId xmlns:p14="http://schemas.microsoft.com/office/powerpoint/2010/main" val="135985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20A94-27E5-58F2-FCEF-3E45AE11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3789EE81-7A85-5661-0BB5-C43B1982E6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17F6FD9-83BC-CAC2-2AA2-F0C4EDE61971}"/>
              </a:ext>
            </a:extLst>
          </p:cNvPr>
          <p:cNvSpPr/>
          <p:nvPr/>
        </p:nvSpPr>
        <p:spPr>
          <a:xfrm>
            <a:off x="-157018" y="0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A3C13B3-C534-9333-5BDE-7200335D4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526" y="2803803"/>
            <a:ext cx="9434946" cy="346724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8E65581-E49F-A42F-A960-E252620C08A6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誰才是市場聲量霸主</a:t>
            </a:r>
            <a:r>
              <a:rPr lang="en-US" altLang="zh-TW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32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6CE5404-8027-B13D-C434-B70554F582B5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1C2C5898-C8B9-6BBD-C294-FF952A01D950}"/>
              </a:ext>
            </a:extLst>
          </p:cNvPr>
          <p:cNvSpPr txBox="1"/>
          <p:nvPr/>
        </p:nvSpPr>
        <p:spPr>
          <a:xfrm>
            <a:off x="1893787" y="2085556"/>
            <a:ext cx="8201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</a:t>
            </a:r>
            <a:r>
              <a:rPr lang="zh-TW" altLang="en-US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品牌佔據市場大多數聲量，精準鎖定高流量的標的。</a:t>
            </a:r>
          </a:p>
        </p:txBody>
      </p:sp>
    </p:spTree>
    <p:extLst>
      <p:ext uri="{BB962C8B-B14F-4D97-AF65-F5344CB8AC3E}">
        <p14:creationId xmlns:p14="http://schemas.microsoft.com/office/powerpoint/2010/main" val="216218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2050A-E2DE-3D30-2DD7-ACF6ABB0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0F4EB7E-B906-B34D-DF21-6CEDDA29C5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B2B0854-0734-BC56-4420-252B4BEAAFF3}"/>
              </a:ext>
            </a:extLst>
          </p:cNvPr>
          <p:cNvSpPr/>
          <p:nvPr/>
        </p:nvSpPr>
        <p:spPr>
          <a:xfrm>
            <a:off x="-110836" y="-2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6D2DF6E-D62E-678F-C5A3-FA6667F9FB61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儀錶板總覽：掌握市場即時報價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076EC0F5-E271-3B68-FAA1-CCDF42623EA3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38CA86F2-C16E-9682-3041-F959BEA79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2547221"/>
            <a:ext cx="11573161" cy="384151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1B6AEED-EA5B-C1B8-FAE2-5D5679AAE842}"/>
              </a:ext>
            </a:extLst>
          </p:cNvPr>
          <p:cNvSpPr txBox="1"/>
          <p:nvPr/>
        </p:nvSpPr>
        <p:spPr>
          <a:xfrm>
            <a:off x="1842987" y="1854723"/>
            <a:ext cx="8201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每日最新的報價，可即時掌握市場動態</a:t>
            </a:r>
          </a:p>
        </p:txBody>
      </p:sp>
    </p:spTree>
    <p:extLst>
      <p:ext uri="{BB962C8B-B14F-4D97-AF65-F5344CB8AC3E}">
        <p14:creationId xmlns:p14="http://schemas.microsoft.com/office/powerpoint/2010/main" val="223000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080BB-EBB0-B7F6-1990-68B86134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C1DDE51-2C88-2682-3767-C60CA1EADE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EF58173-CC5D-D865-16AA-3FE540DE6A3D}"/>
              </a:ext>
            </a:extLst>
          </p:cNvPr>
          <p:cNvSpPr/>
          <p:nvPr/>
        </p:nvSpPr>
        <p:spPr>
          <a:xfrm>
            <a:off x="-1" y="-3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53E9164-85C8-FAFF-E0D4-D1C928CF5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14" y="2079925"/>
            <a:ext cx="8528293" cy="426414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920846E-2666-2AAD-A3BA-431488EF1A37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精準搜尋目標行情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1292253-7F6F-08B0-2829-9B55D4E85213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A06E6E6-2E40-9C3A-6367-650B62FFC59E}"/>
              </a:ext>
            </a:extLst>
          </p:cNvPr>
          <p:cNvSpPr/>
          <p:nvPr/>
        </p:nvSpPr>
        <p:spPr>
          <a:xfrm>
            <a:off x="1477818" y="2309091"/>
            <a:ext cx="7452589" cy="748140"/>
          </a:xfrm>
          <a:prstGeom prst="rect">
            <a:avLst/>
          </a:prstGeom>
          <a:noFill/>
          <a:ln>
            <a:solidFill>
              <a:srgbClr val="D269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899437-0265-A358-472A-EB54E1E3EBA6}"/>
              </a:ext>
            </a:extLst>
          </p:cNvPr>
          <p:cNvSpPr/>
          <p:nvPr/>
        </p:nvSpPr>
        <p:spPr>
          <a:xfrm>
            <a:off x="1477818" y="5323685"/>
            <a:ext cx="7452589" cy="1020387"/>
          </a:xfrm>
          <a:prstGeom prst="rect">
            <a:avLst/>
          </a:prstGeom>
          <a:noFill/>
          <a:ln>
            <a:solidFill>
              <a:srgbClr val="D269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536C23-02D9-EF17-5E58-8B3389E7E314}"/>
              </a:ext>
            </a:extLst>
          </p:cNvPr>
          <p:cNvSpPr/>
          <p:nvPr/>
        </p:nvSpPr>
        <p:spPr>
          <a:xfrm>
            <a:off x="1477818" y="3197087"/>
            <a:ext cx="7452589" cy="748140"/>
          </a:xfrm>
          <a:prstGeom prst="rect">
            <a:avLst/>
          </a:prstGeom>
          <a:noFill/>
          <a:ln>
            <a:solidFill>
              <a:srgbClr val="D269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A9AE6C-4C8D-6EA2-FB8B-E0A64C4B287A}"/>
              </a:ext>
            </a:extLst>
          </p:cNvPr>
          <p:cNvSpPr/>
          <p:nvPr/>
        </p:nvSpPr>
        <p:spPr>
          <a:xfrm>
            <a:off x="1477818" y="3976910"/>
            <a:ext cx="7452589" cy="1315092"/>
          </a:xfrm>
          <a:prstGeom prst="rect">
            <a:avLst/>
          </a:prstGeom>
          <a:noFill/>
          <a:ln>
            <a:solidFill>
              <a:srgbClr val="D269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763F8E-6BC2-BC09-0D7D-8C80D3C07F6F}"/>
              </a:ext>
            </a:extLst>
          </p:cNvPr>
          <p:cNvSpPr txBox="1"/>
          <p:nvPr/>
        </p:nvSpPr>
        <p:spPr>
          <a:xfrm>
            <a:off x="9822541" y="2043690"/>
            <a:ext cx="1967345" cy="923330"/>
          </a:xfrm>
          <a:prstGeom prst="rect">
            <a:avLst/>
          </a:prstGeom>
          <a:solidFill>
            <a:srgbClr val="0E1117"/>
          </a:solidFill>
          <a:ln w="12700">
            <a:solidFill>
              <a:srgbClr val="D2691E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設定搜尋條件</a:t>
            </a:r>
            <a:b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例如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b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雲頂 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779C0C43-096D-796F-C1EA-3E23D8582FD2}"/>
              </a:ext>
            </a:extLst>
          </p:cNvPr>
          <p:cNvSpPr/>
          <p:nvPr/>
        </p:nvSpPr>
        <p:spPr>
          <a:xfrm>
            <a:off x="9081076" y="2477436"/>
            <a:ext cx="498764" cy="3417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9AC52BD1-94AA-FBD4-55B9-19BC23A8BC2E}"/>
              </a:ext>
            </a:extLst>
          </p:cNvPr>
          <p:cNvSpPr/>
          <p:nvPr/>
        </p:nvSpPr>
        <p:spPr>
          <a:xfrm>
            <a:off x="9088581" y="3377208"/>
            <a:ext cx="498764" cy="3417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03F08ACC-EF12-66D0-66FF-19CF7B84191F}"/>
              </a:ext>
            </a:extLst>
          </p:cNvPr>
          <p:cNvSpPr/>
          <p:nvPr/>
        </p:nvSpPr>
        <p:spPr>
          <a:xfrm>
            <a:off x="9116290" y="4457425"/>
            <a:ext cx="498764" cy="3417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018D823C-604B-946F-CC85-1D84BEE89859}"/>
              </a:ext>
            </a:extLst>
          </p:cNvPr>
          <p:cNvSpPr/>
          <p:nvPr/>
        </p:nvSpPr>
        <p:spPr>
          <a:xfrm>
            <a:off x="9116290" y="5573483"/>
            <a:ext cx="498764" cy="3417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A395CF4-B567-2AE1-D561-6E72215AF9F7}"/>
              </a:ext>
            </a:extLst>
          </p:cNvPr>
          <p:cNvSpPr txBox="1"/>
          <p:nvPr/>
        </p:nvSpPr>
        <p:spPr>
          <a:xfrm>
            <a:off x="9822541" y="3349619"/>
            <a:ext cx="2184732" cy="369332"/>
          </a:xfrm>
          <a:prstGeom prst="rect">
            <a:avLst/>
          </a:prstGeom>
          <a:solidFill>
            <a:srgbClr val="0E1117"/>
          </a:solidFill>
          <a:ln w="12700">
            <a:solidFill>
              <a:srgbClr val="D2691E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已抓取的統計資料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F47CB72-8357-2B08-EE47-9252136AC8CE}"/>
              </a:ext>
            </a:extLst>
          </p:cNvPr>
          <p:cNvSpPr txBox="1"/>
          <p:nvPr/>
        </p:nvSpPr>
        <p:spPr>
          <a:xfrm>
            <a:off x="9822541" y="4426594"/>
            <a:ext cx="2184732" cy="369332"/>
          </a:xfrm>
          <a:prstGeom prst="rect">
            <a:avLst/>
          </a:prstGeom>
          <a:solidFill>
            <a:srgbClr val="0E1117"/>
          </a:solidFill>
          <a:ln w="12700">
            <a:solidFill>
              <a:srgbClr val="D2691E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價格分點圖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473D80F-E80D-9C20-580C-BE886EB687C3}"/>
              </a:ext>
            </a:extLst>
          </p:cNvPr>
          <p:cNvSpPr txBox="1"/>
          <p:nvPr/>
        </p:nvSpPr>
        <p:spPr>
          <a:xfrm>
            <a:off x="9822541" y="5601847"/>
            <a:ext cx="2184732" cy="923330"/>
          </a:xfrm>
          <a:prstGeom prst="rect">
            <a:avLst/>
          </a:prstGeom>
          <a:solidFill>
            <a:srgbClr val="0E1117"/>
          </a:solidFill>
          <a:ln w="12700">
            <a:solidFill>
              <a:srgbClr val="D2691E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報價清單</a:t>
            </a:r>
            <a:b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可以連結到貼文網誌，查看詳細品項</a:t>
            </a:r>
          </a:p>
        </p:txBody>
      </p:sp>
    </p:spTree>
    <p:extLst>
      <p:ext uri="{BB962C8B-B14F-4D97-AF65-F5344CB8AC3E}">
        <p14:creationId xmlns:p14="http://schemas.microsoft.com/office/powerpoint/2010/main" val="3080532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8C274-D4A4-BE83-2AFA-B52B397A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00E4BD9-56D8-B259-C0D9-CD01F2DEE0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322FADB-C6A0-9BB0-6693-D5EA0243CEFB}"/>
              </a:ext>
            </a:extLst>
          </p:cNvPr>
          <p:cNvSpPr/>
          <p:nvPr/>
        </p:nvSpPr>
        <p:spPr>
          <a:xfrm>
            <a:off x="-157018" y="-2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2037003-4F98-2F3F-28FB-B280F2DE83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25" t="77114"/>
          <a:stretch>
            <a:fillRect/>
          </a:stretch>
        </p:blipFill>
        <p:spPr>
          <a:xfrm>
            <a:off x="2189596" y="2547221"/>
            <a:ext cx="7701971" cy="101332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58367D4-F565-69CB-B499-042999FFF245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數據洞察：讓隱藏的趨勢無所遁形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08C5A34-3F00-A82E-D937-6B5025E2520D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56E0D-C742-047B-048E-D0EDF1DEC14D}"/>
              </a:ext>
            </a:extLst>
          </p:cNvPr>
          <p:cNvSpPr/>
          <p:nvPr/>
        </p:nvSpPr>
        <p:spPr>
          <a:xfrm>
            <a:off x="7527637" y="2639586"/>
            <a:ext cx="1403927" cy="828598"/>
          </a:xfrm>
          <a:prstGeom prst="rect">
            <a:avLst/>
          </a:prstGeom>
          <a:noFill/>
          <a:ln w="31750">
            <a:solidFill>
              <a:srgbClr val="FF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47CDAC2-6DCF-FEE3-3A10-F66ECBCDDAF2}"/>
              </a:ext>
            </a:extLst>
          </p:cNvPr>
          <p:cNvSpPr txBox="1"/>
          <p:nvPr/>
        </p:nvSpPr>
        <p:spPr>
          <a:xfrm>
            <a:off x="1842987" y="4214784"/>
            <a:ext cx="8201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可得知雲頂十年報價有上漲的趨勢，同一位賣家的售價在一個月調漲了</a:t>
            </a:r>
            <a:r>
              <a:rPr lang="en-US" altLang="zh-TW" sz="32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10%!</a:t>
            </a:r>
            <a:endParaRPr lang="zh-TW" altLang="en-US" sz="3200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A5C8784-17C9-0BEB-2493-FAC8F729C091}"/>
              </a:ext>
            </a:extLst>
          </p:cNvPr>
          <p:cNvSpPr txBox="1"/>
          <p:nvPr/>
        </p:nvSpPr>
        <p:spPr>
          <a:xfrm>
            <a:off x="1842987" y="1716241"/>
            <a:ext cx="8201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追縱特定酒款與賣家的歷史報價，提早判斷市場漲跌走向。</a:t>
            </a:r>
          </a:p>
        </p:txBody>
      </p:sp>
    </p:spTree>
    <p:extLst>
      <p:ext uri="{BB962C8B-B14F-4D97-AF65-F5344CB8AC3E}">
        <p14:creationId xmlns:p14="http://schemas.microsoft.com/office/powerpoint/2010/main" val="376932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54817-56F0-ACAD-E729-5CD4BF87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8A35169-9EFB-72CD-0A2F-36E7F64350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D9B224C-6342-F952-B4DA-35D0B9F335E4}"/>
              </a:ext>
            </a:extLst>
          </p:cNvPr>
          <p:cNvSpPr/>
          <p:nvPr/>
        </p:nvSpPr>
        <p:spPr>
          <a:xfrm>
            <a:off x="-1" y="0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0224BDB-CFF5-9D9B-3A78-3B99D8F74755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F5F5F5"/>
                </a:solidFill>
              </a:rPr>
              <a:t>為威士忌生態圈創造價值</a:t>
            </a:r>
            <a:endParaRPr lang="en-US" altLang="zh-TW" sz="3200" b="1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6F9935B1-A9EC-B6C1-8D0E-46BCF7F2B276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BC1924E-4E49-2994-5F69-B6EFDD74FF82}"/>
              </a:ext>
            </a:extLst>
          </p:cNvPr>
          <p:cNvSpPr txBox="1"/>
          <p:nvPr/>
        </p:nvSpPr>
        <p:spPr>
          <a:xfrm>
            <a:off x="1930399" y="2468642"/>
            <a:ext cx="8672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🥃</a:t>
            </a:r>
            <a:r>
              <a:rPr lang="zh-TW" altLang="en-US" sz="3200" dirty="0">
                <a:solidFill>
                  <a:srgbClr val="FF8C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3200" b="1" dirty="0">
                <a:solidFill>
                  <a:srgbClr val="FF8C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收藏家</a:t>
            </a:r>
            <a:r>
              <a:rPr lang="zh-TW" altLang="en-US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：判斷進場時機</a:t>
            </a:r>
            <a:r>
              <a:rPr lang="zh-TW" altLang="en-US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➔ 透過歷史趨勢圖，避免買在高點，精準撿漏。</a:t>
            </a:r>
            <a:endParaRPr lang="en-US" altLang="zh-TW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4E71360-4964-4519-A006-7D7E83D9C909}"/>
              </a:ext>
            </a:extLst>
          </p:cNvPr>
          <p:cNvSpPr txBox="1"/>
          <p:nvPr/>
        </p:nvSpPr>
        <p:spPr>
          <a:xfrm>
            <a:off x="1930399" y="5013254"/>
            <a:ext cx="8672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🥃</a:t>
            </a:r>
            <a:r>
              <a:rPr lang="zh-TW" altLang="en-US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3200" b="1" dirty="0">
                <a:solidFill>
                  <a:srgbClr val="FF8C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收藏家</a:t>
            </a:r>
            <a:r>
              <a:rPr lang="zh-TW" altLang="en-US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：判斷進場時機 ➔ 透過歷史趨勢圖，避免買在高點，精準撿漏。</a:t>
            </a:r>
            <a:endParaRPr lang="en-US" altLang="zh-TW" b="1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F979517-8B81-ABA9-BEBB-14DF47A02BCE}"/>
              </a:ext>
            </a:extLst>
          </p:cNvPr>
          <p:cNvSpPr txBox="1"/>
          <p:nvPr/>
        </p:nvSpPr>
        <p:spPr>
          <a:xfrm>
            <a:off x="1930399" y="3697948"/>
            <a:ext cx="9005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F5F5F5"/>
                </a:solidFill>
              </a:rPr>
              <a:t>🏢 </a:t>
            </a:r>
            <a:r>
              <a:rPr lang="zh-TW" altLang="en-US" sz="3200" b="1" dirty="0">
                <a:solidFill>
                  <a:srgbClr val="FF8C00"/>
                </a:solidFill>
              </a:rPr>
              <a:t>商家</a:t>
            </a:r>
            <a:r>
              <a:rPr lang="zh-TW" altLang="en-US" sz="3200" b="1" dirty="0">
                <a:solidFill>
                  <a:srgbClr val="F5F5F5"/>
                </a:solidFill>
              </a:rPr>
              <a:t>：</a:t>
            </a:r>
            <a:r>
              <a:rPr lang="zh-TW" altLang="en-US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參考價設定 ➔ 提供具公信力的市場均價，作為商家收購或定價依據。</a:t>
            </a:r>
            <a:endParaRPr lang="en-US" altLang="zh-TW" b="1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4356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A6F87-C5F2-A699-973F-3403BC4D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3C0E9FC-A224-C068-A2D7-17998044FA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D9C4FA2-6901-3CEC-D985-C508F34358E7}"/>
              </a:ext>
            </a:extLst>
          </p:cNvPr>
          <p:cNvSpPr/>
          <p:nvPr/>
        </p:nvSpPr>
        <p:spPr>
          <a:xfrm>
            <a:off x="-1" y="0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1E0E971-F218-25B7-CA83-B3919FBEB950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成果總結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2A032AA-35DE-D431-253B-5A414CF4F591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471F897-7908-B4E2-1EEC-822D8AD4F3D8}"/>
              </a:ext>
            </a:extLst>
          </p:cNvPr>
          <p:cNvSpPr txBox="1"/>
          <p:nvPr/>
        </p:nvSpPr>
        <p:spPr>
          <a:xfrm>
            <a:off x="2908297" y="2150773"/>
            <a:ext cx="7066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「將非結構化的混亂資訊，轉化為結構化的市場行情。」</a:t>
            </a:r>
            <a:endParaRPr lang="en-US" altLang="zh-TW" sz="4400" b="1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74E6A25-FD94-065C-8636-0A46407A4DB3}"/>
              </a:ext>
            </a:extLst>
          </p:cNvPr>
          <p:cNvSpPr txBox="1"/>
          <p:nvPr/>
        </p:nvSpPr>
        <p:spPr>
          <a:xfrm>
            <a:off x="2963716" y="4182097"/>
            <a:ext cx="6375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D269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成功打造威士忌二級市場品酒網的市場觀測站，大幅降低資訊不對稱的交易成本</a:t>
            </a:r>
            <a:endParaRPr lang="en-US" altLang="zh-TW" sz="2400" b="1" dirty="0">
              <a:solidFill>
                <a:srgbClr val="D2691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802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44665-3E05-78A3-FBC6-CBE7E408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870CC73-3B91-89F2-6E51-0D52B8E017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DB57B7E-AC6E-5B91-FBF2-C14B82B82493}"/>
              </a:ext>
            </a:extLst>
          </p:cNvPr>
          <p:cNvSpPr/>
          <p:nvPr/>
        </p:nvSpPr>
        <p:spPr>
          <a:xfrm>
            <a:off x="-1" y="0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B88FC37-D33E-7D41-9FD9-C60BCB11C793}"/>
              </a:ext>
            </a:extLst>
          </p:cNvPr>
          <p:cNvSpPr txBox="1"/>
          <p:nvPr/>
        </p:nvSpPr>
        <p:spPr>
          <a:xfrm>
            <a:off x="1842987" y="981223"/>
            <a:ext cx="820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未來擴充藍圖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0A142ACD-78AE-FC97-68FE-D073CE4C5738}"/>
              </a:ext>
            </a:extLst>
          </p:cNvPr>
          <p:cNvCxnSpPr/>
          <p:nvPr/>
        </p:nvCxnSpPr>
        <p:spPr>
          <a:xfrm>
            <a:off x="2013527" y="1565998"/>
            <a:ext cx="7961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2B9F20-89B7-F6ED-8BF7-69152A3CEDC6}"/>
              </a:ext>
            </a:extLst>
          </p:cNvPr>
          <p:cNvSpPr txBox="1"/>
          <p:nvPr/>
        </p:nvSpPr>
        <p:spPr>
          <a:xfrm>
            <a:off x="1930399" y="2690306"/>
            <a:ext cx="8672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🥃</a:t>
            </a:r>
            <a:r>
              <a:rPr lang="zh-TW" altLang="en-US" sz="3200" dirty="0">
                <a:solidFill>
                  <a:srgbClr val="FF8C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3200" b="1" dirty="0">
                <a:solidFill>
                  <a:srgbClr val="FF8C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多來源整合</a:t>
            </a:r>
            <a:r>
              <a:rPr lang="zh-TW" altLang="en-US" sz="2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：增加爬蟲範圍，納入拍賣網站、ＦＢ社團或其他交流平台的數據。</a:t>
            </a:r>
            <a:endParaRPr lang="en-US" altLang="zh-TW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5C8FA6F-6FD6-24FB-7703-96B0C2C63C35}"/>
              </a:ext>
            </a:extLst>
          </p:cNvPr>
          <p:cNvSpPr txBox="1"/>
          <p:nvPr/>
        </p:nvSpPr>
        <p:spPr>
          <a:xfrm>
            <a:off x="1930399" y="5234918"/>
            <a:ext cx="8672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🥃</a:t>
            </a:r>
            <a:r>
              <a:rPr lang="zh-TW" altLang="en-US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3200" b="1" dirty="0">
                <a:solidFill>
                  <a:srgbClr val="FF8C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主動推播提醒</a:t>
            </a:r>
            <a:r>
              <a:rPr lang="zh-TW" altLang="en-US" sz="2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：開發手機</a:t>
            </a:r>
            <a:r>
              <a:rPr lang="en-US" altLang="zh-TW" sz="2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sz="2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串接</a:t>
            </a:r>
            <a:r>
              <a:rPr lang="en-US" altLang="zh-TW" sz="2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 BOT</a:t>
            </a:r>
            <a:r>
              <a:rPr lang="zh-TW" altLang="en-US" sz="2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，設定目標價或離群價自動提醒。</a:t>
            </a:r>
            <a:endParaRPr lang="en-US" altLang="zh-TW" b="1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15E22E3-279F-0B85-9C17-403E0814641B}"/>
              </a:ext>
            </a:extLst>
          </p:cNvPr>
          <p:cNvSpPr txBox="1"/>
          <p:nvPr/>
        </p:nvSpPr>
        <p:spPr>
          <a:xfrm>
            <a:off x="1930399" y="3919612"/>
            <a:ext cx="8672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🏢 </a:t>
            </a:r>
            <a:r>
              <a:rPr lang="zh-TW" altLang="en-US" sz="3200" b="1" dirty="0">
                <a:solidFill>
                  <a:srgbClr val="FF8C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ＡＩ價格預測</a:t>
            </a:r>
            <a:r>
              <a:rPr lang="zh-TW" altLang="en-US" sz="2400" b="1" dirty="0">
                <a:solidFill>
                  <a:srgbClr val="F5F5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：導入機器學習模型，為整體市場或特定酒款進行價格及銷量預測。</a:t>
            </a:r>
            <a:endParaRPr lang="en-US" altLang="zh-TW" b="1" dirty="0">
              <a:solidFill>
                <a:srgbClr val="F5F5F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323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57DB8-68A4-C08C-378F-262FAA6D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20A9F56-252B-0678-2036-3E5CA314E8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4" b="47329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308D74-9B66-47A5-3A2E-E673D83B434F}"/>
              </a:ext>
            </a:extLst>
          </p:cNvPr>
          <p:cNvSpPr/>
          <p:nvPr/>
        </p:nvSpPr>
        <p:spPr>
          <a:xfrm>
            <a:off x="-110836" y="-2"/>
            <a:ext cx="12302836" cy="6858002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97010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76862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522</Words>
  <Application>Microsoft Office PowerPoint</Application>
  <PresentationFormat>寬螢幕</PresentationFormat>
  <Paragraphs>60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微軟正黑體</vt:lpstr>
      <vt:lpstr>Arial</vt:lpstr>
      <vt:lpstr>Bierstadt</vt:lpstr>
      <vt:lpstr>Wingdings</vt:lpstr>
      <vt:lpstr>GestaltVTI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傑 張</dc:creator>
  <cp:lastModifiedBy>傑 張</cp:lastModifiedBy>
  <cp:revision>2</cp:revision>
  <dcterms:created xsi:type="dcterms:W3CDTF">2026-03-06T11:48:30Z</dcterms:created>
  <dcterms:modified xsi:type="dcterms:W3CDTF">2026-03-07T13:25:52Z</dcterms:modified>
</cp:coreProperties>
</file>